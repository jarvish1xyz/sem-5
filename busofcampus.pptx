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BM Plex Sans Bold" charset="1" panose="020B0803050203000203"/>
      <p:regular r:id="rId17"/>
    </p:embeddedFont>
    <p:embeddedFont>
      <p:font typeface="Sinar Grotesk Bold" charset="1" panose="00000000000000000000"/>
      <p:regular r:id="rId18"/>
    </p:embeddedFont>
    <p:embeddedFont>
      <p:font typeface="IBM Plex Sans" charset="1" panose="020B0503050203000203"/>
      <p:regular r:id="rId19"/>
    </p:embeddedFont>
    <p:embeddedFont>
      <p:font typeface="IBM Plex Mono" charset="1" panose="020B050905020300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62F">
                    <a:alpha val="98000"/>
                  </a:srgbClr>
                </a:gs>
                <a:gs pos="48000">
                  <a:srgbClr val="07162F">
                    <a:alpha val="78000"/>
                  </a:srgbClr>
                </a:gs>
                <a:gs pos="100000">
                  <a:srgbClr val="07162F">
                    <a:alpha val="12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8200" y="1047750"/>
            <a:ext cx="7239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36C5F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WEB APPLICATION  •  CAMPUS TRANSPORTATION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200" y="1790700"/>
            <a:ext cx="8096250" cy="307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BUS</a:t>
            </a:r>
          </a:p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MANAGEMENT</a:t>
            </a:r>
          </a:p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5181600"/>
            <a:ext cx="72390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C8D6EB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Smart Digital Platform for Campus Transportation Management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8200" y="7086600"/>
            <a:ext cx="1143000" cy="47625"/>
            <a:chOff x="0" y="0"/>
            <a:chExt cx="1524000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000" cy="63500"/>
            </a:xfrm>
            <a:custGeom>
              <a:avLst/>
              <a:gdLst/>
              <a:ahLst/>
              <a:cxnLst/>
              <a:rect r="r" b="b" t="t" l="l"/>
              <a:pathLst>
                <a:path h="635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36C5F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2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8200" y="7496175"/>
            <a:ext cx="809625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C8D6EB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Digitizing campus transportation through centralized management and role-based access.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52450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01  /  PROBLEM SPACE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19175"/>
            <a:ext cx="10001250" cy="111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Traditional bus management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breaks at every handoff.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0" y="1209675"/>
            <a:ext cx="571500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Scattered channels, manual records and physical passes create friction for every role.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200" y="4000500"/>
            <a:ext cx="2228850" cy="1200150"/>
            <a:chOff x="0" y="0"/>
            <a:chExt cx="2971800" cy="160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71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971800">
                  <a:moveTo>
                    <a:pt x="75983" y="0"/>
                  </a:moveTo>
                  <a:lnTo>
                    <a:pt x="2895817" y="0"/>
                  </a:lnTo>
                  <a:cubicBezTo>
                    <a:pt x="2915969" y="0"/>
                    <a:pt x="2935296" y="8005"/>
                    <a:pt x="2949545" y="22255"/>
                  </a:cubicBezTo>
                  <a:cubicBezTo>
                    <a:pt x="2963795" y="36504"/>
                    <a:pt x="2971800" y="55831"/>
                    <a:pt x="2971800" y="75983"/>
                  </a:cubicBezTo>
                  <a:lnTo>
                    <a:pt x="2971800" y="1524217"/>
                  </a:lnTo>
                  <a:cubicBezTo>
                    <a:pt x="2971800" y="1544369"/>
                    <a:pt x="2963795" y="1563696"/>
                    <a:pt x="2949545" y="1577945"/>
                  </a:cubicBezTo>
                  <a:cubicBezTo>
                    <a:pt x="2935296" y="1592195"/>
                    <a:pt x="2915969" y="1600200"/>
                    <a:pt x="2895817" y="1600200"/>
                  </a:cubicBezTo>
                  <a:lnTo>
                    <a:pt x="75983" y="1600200"/>
                  </a:lnTo>
                  <a:cubicBezTo>
                    <a:pt x="55831" y="1600200"/>
                    <a:pt x="36504" y="1592195"/>
                    <a:pt x="22255" y="1577945"/>
                  </a:cubicBezTo>
                  <a:cubicBezTo>
                    <a:pt x="8005" y="1563696"/>
                    <a:pt x="0" y="1544369"/>
                    <a:pt x="0" y="1524217"/>
                  </a:cubicBezTo>
                  <a:lnTo>
                    <a:pt x="0" y="75983"/>
                  </a:lnTo>
                  <a:cubicBezTo>
                    <a:pt x="0" y="55831"/>
                    <a:pt x="8005" y="36504"/>
                    <a:pt x="22255" y="22255"/>
                  </a:cubicBezTo>
                  <a:cubicBezTo>
                    <a:pt x="36504" y="8005"/>
                    <a:pt x="55831" y="0"/>
                    <a:pt x="759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9718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Manual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records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086100" y="4600575"/>
            <a:ext cx="476250" cy="0"/>
          </a:xfrm>
          <a:prstGeom prst="line">
            <a:avLst/>
          </a:prstGeom>
          <a:ln cap="rnd" w="28575">
            <a:solidFill>
              <a:srgbClr val="176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3714750" y="4000500"/>
            <a:ext cx="2228850" cy="1200150"/>
            <a:chOff x="0" y="0"/>
            <a:chExt cx="2971800" cy="1600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1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971800">
                  <a:moveTo>
                    <a:pt x="75983" y="0"/>
                  </a:moveTo>
                  <a:lnTo>
                    <a:pt x="2895817" y="0"/>
                  </a:lnTo>
                  <a:cubicBezTo>
                    <a:pt x="2915969" y="0"/>
                    <a:pt x="2935296" y="8005"/>
                    <a:pt x="2949545" y="22255"/>
                  </a:cubicBezTo>
                  <a:cubicBezTo>
                    <a:pt x="2963795" y="36504"/>
                    <a:pt x="2971800" y="55831"/>
                    <a:pt x="2971800" y="75983"/>
                  </a:cubicBezTo>
                  <a:lnTo>
                    <a:pt x="2971800" y="1524217"/>
                  </a:lnTo>
                  <a:cubicBezTo>
                    <a:pt x="2971800" y="1544369"/>
                    <a:pt x="2963795" y="1563696"/>
                    <a:pt x="2949545" y="1577945"/>
                  </a:cubicBezTo>
                  <a:cubicBezTo>
                    <a:pt x="2935296" y="1592195"/>
                    <a:pt x="2915969" y="1600200"/>
                    <a:pt x="2895817" y="1600200"/>
                  </a:cubicBezTo>
                  <a:lnTo>
                    <a:pt x="75983" y="1600200"/>
                  </a:lnTo>
                  <a:cubicBezTo>
                    <a:pt x="55831" y="1600200"/>
                    <a:pt x="36504" y="1592195"/>
                    <a:pt x="22255" y="1577945"/>
                  </a:cubicBezTo>
                  <a:cubicBezTo>
                    <a:pt x="8005" y="1563696"/>
                    <a:pt x="0" y="1544369"/>
                    <a:pt x="0" y="1524217"/>
                  </a:cubicBezTo>
                  <a:lnTo>
                    <a:pt x="0" y="75983"/>
                  </a:lnTo>
                  <a:cubicBezTo>
                    <a:pt x="0" y="55831"/>
                    <a:pt x="8005" y="36504"/>
                    <a:pt x="22255" y="22255"/>
                  </a:cubicBezTo>
                  <a:cubicBezTo>
                    <a:pt x="36504" y="8005"/>
                    <a:pt x="55831" y="0"/>
                    <a:pt x="759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9718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Scattered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information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962650" y="4600575"/>
            <a:ext cx="476250" cy="0"/>
          </a:xfrm>
          <a:prstGeom prst="line">
            <a:avLst/>
          </a:prstGeom>
          <a:ln cap="rnd" w="28575">
            <a:solidFill>
              <a:srgbClr val="176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591300" y="4000500"/>
            <a:ext cx="2228850" cy="1200150"/>
            <a:chOff x="0" y="0"/>
            <a:chExt cx="2971800" cy="1600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71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971800">
                  <a:moveTo>
                    <a:pt x="75983" y="0"/>
                  </a:moveTo>
                  <a:lnTo>
                    <a:pt x="2895817" y="0"/>
                  </a:lnTo>
                  <a:cubicBezTo>
                    <a:pt x="2915969" y="0"/>
                    <a:pt x="2935296" y="8005"/>
                    <a:pt x="2949545" y="22255"/>
                  </a:cubicBezTo>
                  <a:cubicBezTo>
                    <a:pt x="2963795" y="36504"/>
                    <a:pt x="2971800" y="55831"/>
                    <a:pt x="2971800" y="75983"/>
                  </a:cubicBezTo>
                  <a:lnTo>
                    <a:pt x="2971800" y="1524217"/>
                  </a:lnTo>
                  <a:cubicBezTo>
                    <a:pt x="2971800" y="1544369"/>
                    <a:pt x="2963795" y="1563696"/>
                    <a:pt x="2949545" y="1577945"/>
                  </a:cubicBezTo>
                  <a:cubicBezTo>
                    <a:pt x="2935296" y="1592195"/>
                    <a:pt x="2915969" y="1600200"/>
                    <a:pt x="2895817" y="1600200"/>
                  </a:cubicBezTo>
                  <a:lnTo>
                    <a:pt x="75983" y="1600200"/>
                  </a:lnTo>
                  <a:cubicBezTo>
                    <a:pt x="55831" y="1600200"/>
                    <a:pt x="36504" y="1592195"/>
                    <a:pt x="22255" y="1577945"/>
                  </a:cubicBezTo>
                  <a:cubicBezTo>
                    <a:pt x="8005" y="1563696"/>
                    <a:pt x="0" y="1544369"/>
                    <a:pt x="0" y="1524217"/>
                  </a:cubicBezTo>
                  <a:lnTo>
                    <a:pt x="0" y="75983"/>
                  </a:lnTo>
                  <a:cubicBezTo>
                    <a:pt x="0" y="55831"/>
                    <a:pt x="8005" y="36504"/>
                    <a:pt x="22255" y="22255"/>
                  </a:cubicBezTo>
                  <a:cubicBezTo>
                    <a:pt x="36504" y="8005"/>
                    <a:pt x="55831" y="0"/>
                    <a:pt x="759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9718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Route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complexity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8839200" y="4600575"/>
            <a:ext cx="476250" cy="0"/>
          </a:xfrm>
          <a:prstGeom prst="line">
            <a:avLst/>
          </a:prstGeom>
          <a:ln cap="rnd" w="28575">
            <a:solidFill>
              <a:srgbClr val="176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467850" y="4000500"/>
            <a:ext cx="2228850" cy="1200150"/>
            <a:chOff x="0" y="0"/>
            <a:chExt cx="2971800" cy="160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71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971800">
                  <a:moveTo>
                    <a:pt x="75983" y="0"/>
                  </a:moveTo>
                  <a:lnTo>
                    <a:pt x="2895817" y="0"/>
                  </a:lnTo>
                  <a:cubicBezTo>
                    <a:pt x="2915969" y="0"/>
                    <a:pt x="2935296" y="8005"/>
                    <a:pt x="2949545" y="22255"/>
                  </a:cubicBezTo>
                  <a:cubicBezTo>
                    <a:pt x="2963795" y="36504"/>
                    <a:pt x="2971800" y="55831"/>
                    <a:pt x="2971800" y="75983"/>
                  </a:cubicBezTo>
                  <a:lnTo>
                    <a:pt x="2971800" y="1524217"/>
                  </a:lnTo>
                  <a:cubicBezTo>
                    <a:pt x="2971800" y="1544369"/>
                    <a:pt x="2963795" y="1563696"/>
                    <a:pt x="2949545" y="1577945"/>
                  </a:cubicBezTo>
                  <a:cubicBezTo>
                    <a:pt x="2935296" y="1592195"/>
                    <a:pt x="2915969" y="1600200"/>
                    <a:pt x="2895817" y="1600200"/>
                  </a:cubicBezTo>
                  <a:lnTo>
                    <a:pt x="75983" y="1600200"/>
                  </a:lnTo>
                  <a:cubicBezTo>
                    <a:pt x="55831" y="1600200"/>
                    <a:pt x="36504" y="1592195"/>
                    <a:pt x="22255" y="1577945"/>
                  </a:cubicBezTo>
                  <a:cubicBezTo>
                    <a:pt x="8005" y="1563696"/>
                    <a:pt x="0" y="1544369"/>
                    <a:pt x="0" y="1524217"/>
                  </a:cubicBezTo>
                  <a:lnTo>
                    <a:pt x="0" y="75983"/>
                  </a:lnTo>
                  <a:cubicBezTo>
                    <a:pt x="0" y="55831"/>
                    <a:pt x="8005" y="36504"/>
                    <a:pt x="22255" y="22255"/>
                  </a:cubicBezTo>
                  <a:cubicBezTo>
                    <a:pt x="36504" y="8005"/>
                    <a:pt x="55831" y="0"/>
                    <a:pt x="759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29718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Driver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coordination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715750" y="4600575"/>
            <a:ext cx="476250" cy="0"/>
          </a:xfrm>
          <a:prstGeom prst="line">
            <a:avLst/>
          </a:prstGeom>
          <a:ln cap="rnd" w="28575">
            <a:solidFill>
              <a:srgbClr val="176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2344400" y="4000500"/>
            <a:ext cx="2228850" cy="1200150"/>
            <a:chOff x="0" y="0"/>
            <a:chExt cx="2971800" cy="1600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71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971800">
                  <a:moveTo>
                    <a:pt x="75983" y="0"/>
                  </a:moveTo>
                  <a:lnTo>
                    <a:pt x="2895817" y="0"/>
                  </a:lnTo>
                  <a:cubicBezTo>
                    <a:pt x="2915969" y="0"/>
                    <a:pt x="2935296" y="8005"/>
                    <a:pt x="2949545" y="22255"/>
                  </a:cubicBezTo>
                  <a:cubicBezTo>
                    <a:pt x="2963795" y="36504"/>
                    <a:pt x="2971800" y="55831"/>
                    <a:pt x="2971800" y="75983"/>
                  </a:cubicBezTo>
                  <a:lnTo>
                    <a:pt x="2971800" y="1524217"/>
                  </a:lnTo>
                  <a:cubicBezTo>
                    <a:pt x="2971800" y="1544369"/>
                    <a:pt x="2963795" y="1563696"/>
                    <a:pt x="2949545" y="1577945"/>
                  </a:cubicBezTo>
                  <a:cubicBezTo>
                    <a:pt x="2935296" y="1592195"/>
                    <a:pt x="2915969" y="1600200"/>
                    <a:pt x="2895817" y="1600200"/>
                  </a:cubicBezTo>
                  <a:lnTo>
                    <a:pt x="75983" y="1600200"/>
                  </a:lnTo>
                  <a:cubicBezTo>
                    <a:pt x="55831" y="1600200"/>
                    <a:pt x="36504" y="1592195"/>
                    <a:pt x="22255" y="1577945"/>
                  </a:cubicBezTo>
                  <a:cubicBezTo>
                    <a:pt x="8005" y="1563696"/>
                    <a:pt x="0" y="1544369"/>
                    <a:pt x="0" y="1524217"/>
                  </a:cubicBezTo>
                  <a:lnTo>
                    <a:pt x="0" y="75983"/>
                  </a:lnTo>
                  <a:cubicBezTo>
                    <a:pt x="0" y="55831"/>
                    <a:pt x="8005" y="36504"/>
                    <a:pt x="22255" y="22255"/>
                  </a:cubicBezTo>
                  <a:cubicBezTo>
                    <a:pt x="36504" y="8005"/>
                    <a:pt x="55831" y="0"/>
                    <a:pt x="759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29718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access gaps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4592300" y="4600575"/>
            <a:ext cx="476250" cy="0"/>
          </a:xfrm>
          <a:prstGeom prst="line">
            <a:avLst/>
          </a:prstGeom>
          <a:ln cap="rnd" w="28575">
            <a:solidFill>
              <a:srgbClr val="176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5220950" y="4000500"/>
            <a:ext cx="2228850" cy="1200150"/>
            <a:chOff x="0" y="0"/>
            <a:chExt cx="2971800" cy="1600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71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971800">
                  <a:moveTo>
                    <a:pt x="75983" y="0"/>
                  </a:moveTo>
                  <a:lnTo>
                    <a:pt x="2895817" y="0"/>
                  </a:lnTo>
                  <a:cubicBezTo>
                    <a:pt x="2915969" y="0"/>
                    <a:pt x="2935296" y="8005"/>
                    <a:pt x="2949545" y="22255"/>
                  </a:cubicBezTo>
                  <a:cubicBezTo>
                    <a:pt x="2963795" y="36504"/>
                    <a:pt x="2971800" y="55831"/>
                    <a:pt x="2971800" y="75983"/>
                  </a:cubicBezTo>
                  <a:lnTo>
                    <a:pt x="2971800" y="1524217"/>
                  </a:lnTo>
                  <a:cubicBezTo>
                    <a:pt x="2971800" y="1544369"/>
                    <a:pt x="2963795" y="1563696"/>
                    <a:pt x="2949545" y="1577945"/>
                  </a:cubicBezTo>
                  <a:cubicBezTo>
                    <a:pt x="2935296" y="1592195"/>
                    <a:pt x="2915969" y="1600200"/>
                    <a:pt x="2895817" y="1600200"/>
                  </a:cubicBezTo>
                  <a:lnTo>
                    <a:pt x="75983" y="1600200"/>
                  </a:lnTo>
                  <a:cubicBezTo>
                    <a:pt x="55831" y="1600200"/>
                    <a:pt x="36504" y="1592195"/>
                    <a:pt x="22255" y="1577945"/>
                  </a:cubicBezTo>
                  <a:cubicBezTo>
                    <a:pt x="8005" y="1563696"/>
                    <a:pt x="0" y="1544369"/>
                    <a:pt x="0" y="1524217"/>
                  </a:cubicBezTo>
                  <a:lnTo>
                    <a:pt x="0" y="75983"/>
                  </a:lnTo>
                  <a:cubicBezTo>
                    <a:pt x="0" y="55831"/>
                    <a:pt x="8005" y="36504"/>
                    <a:pt x="22255" y="22255"/>
                  </a:cubicBezTo>
                  <a:cubicBezTo>
                    <a:pt x="36504" y="8005"/>
                    <a:pt x="55831" y="0"/>
                    <a:pt x="75983" y="0"/>
                  </a:cubicBezTo>
                  <a:close/>
                </a:path>
              </a:pathLst>
            </a:custGeom>
            <a:solidFill>
              <a:srgbClr val="E752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9718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Physical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passes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38200" y="7391400"/>
            <a:ext cx="16611600" cy="1809750"/>
            <a:chOff x="0" y="0"/>
            <a:chExt cx="22148800" cy="2413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1488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2148800">
                  <a:moveTo>
                    <a:pt x="0" y="0"/>
                  </a:moveTo>
                  <a:lnTo>
                    <a:pt x="22148800" y="0"/>
                  </a:lnTo>
                  <a:lnTo>
                    <a:pt x="221488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1488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19250" y="7867650"/>
            <a:ext cx="15049500" cy="72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</a:pPr>
            <a:r>
              <a:rPr lang="en-US" sz="2325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“The solution is to bring transportation management, route information and user access into one centralized digital platform.”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176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71500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36C5F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02  /  ROLE-BASED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76325"/>
            <a:ext cx="123825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One platform. Three focused experiences.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8200" y="1743075"/>
            <a:ext cx="8572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C8D6EB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Centralized data; interfaces tailored to responsibility.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0" y="2952750"/>
            <a:ext cx="4953000" cy="1123950"/>
            <a:chOff x="0" y="0"/>
            <a:chExt cx="6604000" cy="1498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6604000">
                  <a:moveTo>
                    <a:pt x="34192" y="0"/>
                  </a:moveTo>
                  <a:lnTo>
                    <a:pt x="6569808" y="0"/>
                  </a:lnTo>
                  <a:cubicBezTo>
                    <a:pt x="6578876" y="0"/>
                    <a:pt x="6587573" y="3602"/>
                    <a:pt x="6593985" y="10015"/>
                  </a:cubicBezTo>
                  <a:cubicBezTo>
                    <a:pt x="6600398" y="16427"/>
                    <a:pt x="6604000" y="25124"/>
                    <a:pt x="6604000" y="34192"/>
                  </a:cubicBezTo>
                  <a:lnTo>
                    <a:pt x="6604000" y="1464408"/>
                  </a:lnTo>
                  <a:cubicBezTo>
                    <a:pt x="6604000" y="1473476"/>
                    <a:pt x="6600398" y="1482173"/>
                    <a:pt x="6593985" y="1488585"/>
                  </a:cubicBezTo>
                  <a:cubicBezTo>
                    <a:pt x="6587573" y="1494998"/>
                    <a:pt x="6578876" y="1498600"/>
                    <a:pt x="6569808" y="1498600"/>
                  </a:cubicBezTo>
                  <a:lnTo>
                    <a:pt x="34192" y="1498600"/>
                  </a:lnTo>
                  <a:cubicBezTo>
                    <a:pt x="25124" y="1498600"/>
                    <a:pt x="16427" y="1494998"/>
                    <a:pt x="10015" y="1488585"/>
                  </a:cubicBezTo>
                  <a:cubicBezTo>
                    <a:pt x="3602" y="1482173"/>
                    <a:pt x="0" y="1473476"/>
                    <a:pt x="0" y="1464408"/>
                  </a:cubicBezTo>
                  <a:lnTo>
                    <a:pt x="0" y="34192"/>
                  </a:lnTo>
                  <a:cubicBezTo>
                    <a:pt x="0" y="25124"/>
                    <a:pt x="3602" y="16427"/>
                    <a:pt x="10015" y="10015"/>
                  </a:cubicBezTo>
                  <a:cubicBezTo>
                    <a:pt x="16427" y="3602"/>
                    <a:pt x="25124" y="0"/>
                    <a:pt x="34192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6604000" cy="1489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BUS MANAGEMENT SYSTEM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3390900" y="4076700"/>
            <a:ext cx="5753100" cy="1104900"/>
          </a:xfrm>
          <a:prstGeom prst="line">
            <a:avLst/>
          </a:prstGeom>
          <a:ln cap="flat" w="28575">
            <a:solidFill>
              <a:srgbClr val="176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44000" y="4076700"/>
            <a:ext cx="0" cy="1104900"/>
          </a:xfrm>
          <a:prstGeom prst="line">
            <a:avLst/>
          </a:prstGeom>
          <a:ln cap="flat" w="28575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144000" y="4076700"/>
            <a:ext cx="5753100" cy="1104900"/>
          </a:xfrm>
          <a:prstGeom prst="line">
            <a:avLst/>
          </a:prstGeom>
          <a:ln cap="flat" w="28575">
            <a:solidFill>
              <a:srgbClr val="18A8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14400" y="5219700"/>
            <a:ext cx="4953000" cy="2362200"/>
            <a:chOff x="0" y="0"/>
            <a:chExt cx="6604000" cy="31496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3149600"/>
              <a:chOff x="0" y="0"/>
              <a:chExt cx="6604000" cy="3149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3149600"/>
              </a:xfrm>
              <a:custGeom>
                <a:avLst/>
                <a:gdLst/>
                <a:ahLst/>
                <a:cxnLst/>
                <a:rect r="r" b="b" t="t" l="l"/>
                <a:pathLst>
                  <a:path h="3149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49600"/>
                    </a:lnTo>
                    <a:lnTo>
                      <a:pt x="0" y="3149600"/>
                    </a:lnTo>
                    <a:close/>
                  </a:path>
                </a:pathLst>
              </a:custGeom>
              <a:solidFill>
                <a:srgbClr val="102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318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127000" cy="3149600"/>
              <a:chOff x="0" y="0"/>
              <a:chExt cx="127000" cy="3149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7000" cy="3149600"/>
              </a:xfrm>
              <a:custGeom>
                <a:avLst/>
                <a:gdLst/>
                <a:ahLst/>
                <a:cxnLst/>
                <a:rect r="r" b="b" t="t" l="l"/>
                <a:pathLst>
                  <a:path h="31496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149600"/>
                    </a:lnTo>
                    <a:lnTo>
                      <a:pt x="0" y="3149600"/>
                    </a:lnTo>
                    <a:close/>
                  </a:path>
                </a:pathLst>
              </a:custGeom>
              <a:solidFill>
                <a:srgbClr val="176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27000" cy="318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31800" y="466725"/>
              <a:ext cx="57404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ADMIN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1800" y="1250950"/>
              <a:ext cx="5740400" cy="6902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Management • routes • pickup points • driver 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67500" y="5219700"/>
            <a:ext cx="4953000" cy="2362200"/>
            <a:chOff x="0" y="0"/>
            <a:chExt cx="6604000" cy="31496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604000" cy="3149600"/>
              <a:chOff x="0" y="0"/>
              <a:chExt cx="6604000" cy="3149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0" cy="3149600"/>
              </a:xfrm>
              <a:custGeom>
                <a:avLst/>
                <a:gdLst/>
                <a:ahLst/>
                <a:cxnLst/>
                <a:rect r="r" b="b" t="t" l="l"/>
                <a:pathLst>
                  <a:path h="3149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49600"/>
                    </a:lnTo>
                    <a:lnTo>
                      <a:pt x="0" y="3149600"/>
                    </a:lnTo>
                    <a:close/>
                  </a:path>
                </a:pathLst>
              </a:custGeom>
              <a:solidFill>
                <a:srgbClr val="102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04000" cy="318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127000" cy="3149600"/>
              <a:chOff x="0" y="0"/>
              <a:chExt cx="127000" cy="31496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7000" cy="3149600"/>
              </a:xfrm>
              <a:custGeom>
                <a:avLst/>
                <a:gdLst/>
                <a:ahLst/>
                <a:cxnLst/>
                <a:rect r="r" b="b" t="t" l="l"/>
                <a:pathLst>
                  <a:path h="31496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149600"/>
                    </a:lnTo>
                    <a:lnTo>
                      <a:pt x="0" y="3149600"/>
                    </a:lnTo>
                    <a:close/>
                  </a:path>
                </a:pathLst>
              </a:custGeom>
              <a:solidFill>
                <a:srgbClr val="36C5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27000" cy="318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31800" y="466725"/>
              <a:ext cx="57404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DRIVER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31800" y="1250950"/>
              <a:ext cx="57404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Assigned route • bus info • duty access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20600" y="5219700"/>
            <a:ext cx="4953000" cy="2362200"/>
            <a:chOff x="0" y="0"/>
            <a:chExt cx="6604000" cy="31496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604000" cy="3149600"/>
              <a:chOff x="0" y="0"/>
              <a:chExt cx="6604000" cy="3149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04000" cy="3149600"/>
              </a:xfrm>
              <a:custGeom>
                <a:avLst/>
                <a:gdLst/>
                <a:ahLst/>
                <a:cxnLst/>
                <a:rect r="r" b="b" t="t" l="l"/>
                <a:pathLst>
                  <a:path h="3149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49600"/>
                    </a:lnTo>
                    <a:lnTo>
                      <a:pt x="0" y="3149600"/>
                    </a:lnTo>
                    <a:close/>
                  </a:path>
                </a:pathLst>
              </a:custGeom>
              <a:solidFill>
                <a:srgbClr val="102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6604000" cy="318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0"/>
              <a:ext cx="127000" cy="3149600"/>
              <a:chOff x="0" y="0"/>
              <a:chExt cx="127000" cy="31496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27000" cy="3149600"/>
              </a:xfrm>
              <a:custGeom>
                <a:avLst/>
                <a:gdLst/>
                <a:ahLst/>
                <a:cxnLst/>
                <a:rect r="r" b="b" t="t" l="l"/>
                <a:pathLst>
                  <a:path h="31496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149600"/>
                    </a:lnTo>
                    <a:lnTo>
                      <a:pt x="0" y="3149600"/>
                    </a:lnTo>
                    <a:close/>
                  </a:path>
                </a:pathLst>
              </a:custGeom>
              <a:solidFill>
                <a:srgbClr val="18A87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27000" cy="318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431800" y="466725"/>
              <a:ext cx="57404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STUDENT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31800" y="1250950"/>
              <a:ext cx="57404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Bus • route • pickup • digital pass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286000" y="8372475"/>
            <a:ext cx="13716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spc="120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CENTRAL CONTROL  •  FASTER ACCESS  •  DIGITAL PASS  •  ORGANIZED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7890B4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33400"/>
            <a:ext cx="3810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03  / 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00125"/>
            <a:ext cx="104775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architecture &amp; technology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8200" y="2381250"/>
            <a:ext cx="12192000" cy="1257300"/>
            <a:chOff x="0" y="0"/>
            <a:chExt cx="16256000" cy="16764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6256000" cy="1676400"/>
              <a:chOff x="0" y="0"/>
              <a:chExt cx="16256000" cy="1676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256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6256000">
                    <a:moveTo>
                      <a:pt x="0" y="0"/>
                    </a:moveTo>
                    <a:lnTo>
                      <a:pt x="16256000" y="0"/>
                    </a:lnTo>
                    <a:lnTo>
                      <a:pt x="16256000" y="1676400"/>
                    </a:lnTo>
                    <a:lnTo>
                      <a:pt x="0" y="1676400"/>
                    </a:lnTo>
                    <a:close/>
                  </a:path>
                </a:pathLst>
              </a:custGeom>
              <a:solidFill>
                <a:srgbClr val="176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6256000" cy="171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431800"/>
              <a:ext cx="3937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USER INTERFACE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51400" y="501650"/>
              <a:ext cx="1016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DBEAF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ADMIN DASHBOARD     DRIVER DASHBOARD     STUDENT DASHBOARD     AUTHENTICATION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38200" y="4267200"/>
            <a:ext cx="12192000" cy="1257300"/>
            <a:chOff x="0" y="0"/>
            <a:chExt cx="16256000" cy="1676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256000" cy="1676400"/>
              <a:chOff x="0" y="0"/>
              <a:chExt cx="16256000" cy="167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256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6256000">
                    <a:moveTo>
                      <a:pt x="0" y="0"/>
                    </a:moveTo>
                    <a:lnTo>
                      <a:pt x="16256000" y="0"/>
                    </a:lnTo>
                    <a:lnTo>
                      <a:pt x="16256000" y="1676400"/>
                    </a:lnTo>
                    <a:lnTo>
                      <a:pt x="0" y="1676400"/>
                    </a:lnTo>
                    <a:close/>
                  </a:path>
                </a:pathLst>
              </a:custGeom>
              <a:solidFill>
                <a:srgbClr val="174A9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256000" cy="171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431800"/>
              <a:ext cx="3937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APPLICATION LOGIC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851400" y="49212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DBEAF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ROLE WORKFLOWS     BUS / ROUTE / PICKUP MANAGEMENT     USER-SPECIFIC VIEWS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8200" y="6153150"/>
            <a:ext cx="12192000" cy="1257300"/>
            <a:chOff x="0" y="0"/>
            <a:chExt cx="16256000" cy="16764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6256000" cy="1676400"/>
              <a:chOff x="0" y="0"/>
              <a:chExt cx="16256000" cy="167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256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6256000">
                    <a:moveTo>
                      <a:pt x="0" y="0"/>
                    </a:moveTo>
                    <a:lnTo>
                      <a:pt x="16256000" y="0"/>
                    </a:lnTo>
                    <a:lnTo>
                      <a:pt x="16256000" y="1676400"/>
                    </a:lnTo>
                    <a:lnTo>
                      <a:pt x="0" y="1676400"/>
                    </a:lnTo>
                    <a:close/>
                  </a:path>
                </a:pathLst>
              </a:custGeom>
              <a:solidFill>
                <a:srgbClr val="07162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6256000" cy="171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35000" y="431800"/>
              <a:ext cx="3937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DATA LAYER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851400" y="49212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DBEAF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USER DATA     BUS DATA     ROUTE DATA     PICKUP DATA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811250" y="2438400"/>
            <a:ext cx="3524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ENGINEERING CONCEPTS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11250" y="2867025"/>
            <a:ext cx="361950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Role-based access control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CRUD data management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Authentication &amp; security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Centralized data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Responsive web interface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Modular dashboards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809750" y="8229600"/>
            <a:ext cx="2952750" cy="666750"/>
            <a:chOff x="0" y="0"/>
            <a:chExt cx="3937000" cy="88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37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831645"/>
                  </a:lnTo>
                  <a:cubicBezTo>
                    <a:pt x="3937000" y="846857"/>
                    <a:pt x="3930957" y="861445"/>
                    <a:pt x="3920201" y="872201"/>
                  </a:cubicBezTo>
                  <a:cubicBezTo>
                    <a:pt x="3909445" y="882957"/>
                    <a:pt x="3894856" y="889000"/>
                    <a:pt x="3879645" y="889000"/>
                  </a:cubicBezTo>
                  <a:lnTo>
                    <a:pt x="57355" y="889000"/>
                  </a:lnTo>
                  <a:cubicBezTo>
                    <a:pt x="42143" y="889000"/>
                    <a:pt x="27555" y="882957"/>
                    <a:pt x="16799" y="872201"/>
                  </a:cubicBezTo>
                  <a:cubicBezTo>
                    <a:pt x="6043" y="861445"/>
                    <a:pt x="0" y="846857"/>
                    <a:pt x="0" y="831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937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WEB APPLICATION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67700" y="8229600"/>
            <a:ext cx="2952750" cy="666750"/>
            <a:chOff x="0" y="0"/>
            <a:chExt cx="3937000" cy="889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7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831645"/>
                  </a:lnTo>
                  <a:cubicBezTo>
                    <a:pt x="3937000" y="846857"/>
                    <a:pt x="3930957" y="861445"/>
                    <a:pt x="3920201" y="872201"/>
                  </a:cubicBezTo>
                  <a:cubicBezTo>
                    <a:pt x="3909445" y="882957"/>
                    <a:pt x="3894856" y="889000"/>
                    <a:pt x="3879645" y="889000"/>
                  </a:cubicBezTo>
                  <a:lnTo>
                    <a:pt x="57355" y="889000"/>
                  </a:lnTo>
                  <a:cubicBezTo>
                    <a:pt x="42143" y="889000"/>
                    <a:pt x="27555" y="882957"/>
                    <a:pt x="16799" y="872201"/>
                  </a:cubicBezTo>
                  <a:cubicBezTo>
                    <a:pt x="6043" y="861445"/>
                    <a:pt x="0" y="846857"/>
                    <a:pt x="0" y="831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8A875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3937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DEPLOYMENT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4781550" y="8562975"/>
            <a:ext cx="3333750" cy="0"/>
          </a:xfrm>
          <a:prstGeom prst="line">
            <a:avLst/>
          </a:prstGeom>
          <a:ln cap="rnd" w="38100">
            <a:solidFill>
              <a:srgbClr val="1769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176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495300"/>
            <a:ext cx="4000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  /  ADMIN MODULE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962025"/>
            <a:ext cx="104775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Centralized transportation control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924050"/>
            <a:ext cx="2057400" cy="590550"/>
            <a:chOff x="0" y="0"/>
            <a:chExt cx="2743200" cy="787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" cy="787400"/>
            </a:xfrm>
            <a:custGeom>
              <a:avLst/>
              <a:gdLst/>
              <a:ahLst/>
              <a:cxnLst/>
              <a:rect r="r" b="b" t="t" l="l"/>
              <a:pathLst>
                <a:path h="787400" w="2743200">
                  <a:moveTo>
                    <a:pt x="82315" y="0"/>
                  </a:moveTo>
                  <a:lnTo>
                    <a:pt x="2660885" y="0"/>
                  </a:lnTo>
                  <a:cubicBezTo>
                    <a:pt x="2682716" y="0"/>
                    <a:pt x="2703654" y="8672"/>
                    <a:pt x="2719091" y="24109"/>
                  </a:cubicBezTo>
                  <a:cubicBezTo>
                    <a:pt x="2734528" y="39546"/>
                    <a:pt x="2743200" y="60484"/>
                    <a:pt x="2743200" y="82315"/>
                  </a:cubicBezTo>
                  <a:lnTo>
                    <a:pt x="2743200" y="705085"/>
                  </a:lnTo>
                  <a:cubicBezTo>
                    <a:pt x="2743200" y="726916"/>
                    <a:pt x="2734528" y="747854"/>
                    <a:pt x="2719091" y="763291"/>
                  </a:cubicBezTo>
                  <a:cubicBezTo>
                    <a:pt x="2703654" y="778728"/>
                    <a:pt x="2682716" y="787400"/>
                    <a:pt x="2660885" y="787400"/>
                  </a:cubicBezTo>
                  <a:lnTo>
                    <a:pt x="82315" y="787400"/>
                  </a:lnTo>
                  <a:cubicBezTo>
                    <a:pt x="60484" y="787400"/>
                    <a:pt x="39546" y="778728"/>
                    <a:pt x="24109" y="763291"/>
                  </a:cubicBezTo>
                  <a:cubicBezTo>
                    <a:pt x="8672" y="747854"/>
                    <a:pt x="0" y="726916"/>
                    <a:pt x="0" y="705085"/>
                  </a:cubicBezTo>
                  <a:lnTo>
                    <a:pt x="0" y="82315"/>
                  </a:lnTo>
                  <a:cubicBezTo>
                    <a:pt x="0" y="60484"/>
                    <a:pt x="8672" y="39546"/>
                    <a:pt x="24109" y="24109"/>
                  </a:cubicBezTo>
                  <a:cubicBezTo>
                    <a:pt x="39546" y="8672"/>
                    <a:pt x="60484" y="0"/>
                    <a:pt x="82315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7432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ADMIN LOGIN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14700" y="1924050"/>
            <a:ext cx="2057400" cy="590550"/>
            <a:chOff x="0" y="0"/>
            <a:chExt cx="2743200" cy="787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3200" cy="787400"/>
            </a:xfrm>
            <a:custGeom>
              <a:avLst/>
              <a:gdLst/>
              <a:ahLst/>
              <a:cxnLst/>
              <a:rect r="r" b="b" t="t" l="l"/>
              <a:pathLst>
                <a:path h="787400" w="2743200">
                  <a:moveTo>
                    <a:pt x="82315" y="0"/>
                  </a:moveTo>
                  <a:lnTo>
                    <a:pt x="2660885" y="0"/>
                  </a:lnTo>
                  <a:cubicBezTo>
                    <a:pt x="2682716" y="0"/>
                    <a:pt x="2703654" y="8672"/>
                    <a:pt x="2719091" y="24109"/>
                  </a:cubicBezTo>
                  <a:cubicBezTo>
                    <a:pt x="2734528" y="39546"/>
                    <a:pt x="2743200" y="60484"/>
                    <a:pt x="2743200" y="82315"/>
                  </a:cubicBezTo>
                  <a:lnTo>
                    <a:pt x="2743200" y="705085"/>
                  </a:lnTo>
                  <a:cubicBezTo>
                    <a:pt x="2743200" y="726916"/>
                    <a:pt x="2734528" y="747854"/>
                    <a:pt x="2719091" y="763291"/>
                  </a:cubicBezTo>
                  <a:cubicBezTo>
                    <a:pt x="2703654" y="778728"/>
                    <a:pt x="2682716" y="787400"/>
                    <a:pt x="2660885" y="787400"/>
                  </a:cubicBezTo>
                  <a:lnTo>
                    <a:pt x="82315" y="787400"/>
                  </a:lnTo>
                  <a:cubicBezTo>
                    <a:pt x="60484" y="787400"/>
                    <a:pt x="39546" y="778728"/>
                    <a:pt x="24109" y="763291"/>
                  </a:cubicBezTo>
                  <a:cubicBezTo>
                    <a:pt x="8672" y="747854"/>
                    <a:pt x="0" y="726916"/>
                    <a:pt x="0" y="705085"/>
                  </a:cubicBezTo>
                  <a:lnTo>
                    <a:pt x="0" y="82315"/>
                  </a:lnTo>
                  <a:cubicBezTo>
                    <a:pt x="0" y="60484"/>
                    <a:pt x="8672" y="39546"/>
                    <a:pt x="24109" y="24109"/>
                  </a:cubicBezTo>
                  <a:cubicBezTo>
                    <a:pt x="39546" y="8672"/>
                    <a:pt x="60484" y="0"/>
                    <a:pt x="82315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7432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DASHBOARD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72150" y="1924050"/>
            <a:ext cx="2057400" cy="590550"/>
            <a:chOff x="0" y="0"/>
            <a:chExt cx="2743200" cy="78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3200" cy="787400"/>
            </a:xfrm>
            <a:custGeom>
              <a:avLst/>
              <a:gdLst/>
              <a:ahLst/>
              <a:cxnLst/>
              <a:rect r="r" b="b" t="t" l="l"/>
              <a:pathLst>
                <a:path h="787400" w="2743200">
                  <a:moveTo>
                    <a:pt x="82315" y="0"/>
                  </a:moveTo>
                  <a:lnTo>
                    <a:pt x="2660885" y="0"/>
                  </a:lnTo>
                  <a:cubicBezTo>
                    <a:pt x="2682716" y="0"/>
                    <a:pt x="2703654" y="8672"/>
                    <a:pt x="2719091" y="24109"/>
                  </a:cubicBezTo>
                  <a:cubicBezTo>
                    <a:pt x="2734528" y="39546"/>
                    <a:pt x="2743200" y="60484"/>
                    <a:pt x="2743200" y="82315"/>
                  </a:cubicBezTo>
                  <a:lnTo>
                    <a:pt x="2743200" y="705085"/>
                  </a:lnTo>
                  <a:cubicBezTo>
                    <a:pt x="2743200" y="726916"/>
                    <a:pt x="2734528" y="747854"/>
                    <a:pt x="2719091" y="763291"/>
                  </a:cubicBezTo>
                  <a:cubicBezTo>
                    <a:pt x="2703654" y="778728"/>
                    <a:pt x="2682716" y="787400"/>
                    <a:pt x="2660885" y="787400"/>
                  </a:cubicBezTo>
                  <a:lnTo>
                    <a:pt x="82315" y="787400"/>
                  </a:lnTo>
                  <a:cubicBezTo>
                    <a:pt x="60484" y="787400"/>
                    <a:pt x="39546" y="778728"/>
                    <a:pt x="24109" y="763291"/>
                  </a:cubicBezTo>
                  <a:cubicBezTo>
                    <a:pt x="8672" y="747854"/>
                    <a:pt x="0" y="726916"/>
                    <a:pt x="0" y="705085"/>
                  </a:cubicBezTo>
                  <a:lnTo>
                    <a:pt x="0" y="82315"/>
                  </a:lnTo>
                  <a:cubicBezTo>
                    <a:pt x="0" y="60484"/>
                    <a:pt x="8672" y="39546"/>
                    <a:pt x="24109" y="24109"/>
                  </a:cubicBezTo>
                  <a:cubicBezTo>
                    <a:pt x="39546" y="8672"/>
                    <a:pt x="60484" y="0"/>
                    <a:pt x="82315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7432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b="true" sz="120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BUS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0" y="1924050"/>
            <a:ext cx="2057400" cy="590550"/>
            <a:chOff x="0" y="0"/>
            <a:chExt cx="2743200" cy="787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0" cy="787400"/>
            </a:xfrm>
            <a:custGeom>
              <a:avLst/>
              <a:gdLst/>
              <a:ahLst/>
              <a:cxnLst/>
              <a:rect r="r" b="b" t="t" l="l"/>
              <a:pathLst>
                <a:path h="787400" w="2743200">
                  <a:moveTo>
                    <a:pt x="82315" y="0"/>
                  </a:moveTo>
                  <a:lnTo>
                    <a:pt x="2660885" y="0"/>
                  </a:lnTo>
                  <a:cubicBezTo>
                    <a:pt x="2682716" y="0"/>
                    <a:pt x="2703654" y="8672"/>
                    <a:pt x="2719091" y="24109"/>
                  </a:cubicBezTo>
                  <a:cubicBezTo>
                    <a:pt x="2734528" y="39546"/>
                    <a:pt x="2743200" y="60484"/>
                    <a:pt x="2743200" y="82315"/>
                  </a:cubicBezTo>
                  <a:lnTo>
                    <a:pt x="2743200" y="705085"/>
                  </a:lnTo>
                  <a:cubicBezTo>
                    <a:pt x="2743200" y="726916"/>
                    <a:pt x="2734528" y="747854"/>
                    <a:pt x="2719091" y="763291"/>
                  </a:cubicBezTo>
                  <a:cubicBezTo>
                    <a:pt x="2703654" y="778728"/>
                    <a:pt x="2682716" y="787400"/>
                    <a:pt x="2660885" y="787400"/>
                  </a:cubicBezTo>
                  <a:lnTo>
                    <a:pt x="82315" y="787400"/>
                  </a:lnTo>
                  <a:cubicBezTo>
                    <a:pt x="60484" y="787400"/>
                    <a:pt x="39546" y="778728"/>
                    <a:pt x="24109" y="763291"/>
                  </a:cubicBezTo>
                  <a:cubicBezTo>
                    <a:pt x="8672" y="747854"/>
                    <a:pt x="0" y="726916"/>
                    <a:pt x="0" y="705085"/>
                  </a:cubicBezTo>
                  <a:lnTo>
                    <a:pt x="0" y="82315"/>
                  </a:lnTo>
                  <a:cubicBezTo>
                    <a:pt x="0" y="60484"/>
                    <a:pt x="8672" y="39546"/>
                    <a:pt x="24109" y="24109"/>
                  </a:cubicBezTo>
                  <a:cubicBezTo>
                    <a:pt x="39546" y="8672"/>
                    <a:pt x="60484" y="0"/>
                    <a:pt x="82315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7432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b="true" sz="120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ROUTES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87050" y="1924050"/>
            <a:ext cx="2057400" cy="590550"/>
            <a:chOff x="0" y="0"/>
            <a:chExt cx="2743200" cy="787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3200" cy="787400"/>
            </a:xfrm>
            <a:custGeom>
              <a:avLst/>
              <a:gdLst/>
              <a:ahLst/>
              <a:cxnLst/>
              <a:rect r="r" b="b" t="t" l="l"/>
              <a:pathLst>
                <a:path h="787400" w="2743200">
                  <a:moveTo>
                    <a:pt x="82315" y="0"/>
                  </a:moveTo>
                  <a:lnTo>
                    <a:pt x="2660885" y="0"/>
                  </a:lnTo>
                  <a:cubicBezTo>
                    <a:pt x="2682716" y="0"/>
                    <a:pt x="2703654" y="8672"/>
                    <a:pt x="2719091" y="24109"/>
                  </a:cubicBezTo>
                  <a:cubicBezTo>
                    <a:pt x="2734528" y="39546"/>
                    <a:pt x="2743200" y="60484"/>
                    <a:pt x="2743200" y="82315"/>
                  </a:cubicBezTo>
                  <a:lnTo>
                    <a:pt x="2743200" y="705085"/>
                  </a:lnTo>
                  <a:cubicBezTo>
                    <a:pt x="2743200" y="726916"/>
                    <a:pt x="2734528" y="747854"/>
                    <a:pt x="2719091" y="763291"/>
                  </a:cubicBezTo>
                  <a:cubicBezTo>
                    <a:pt x="2703654" y="778728"/>
                    <a:pt x="2682716" y="787400"/>
                    <a:pt x="2660885" y="787400"/>
                  </a:cubicBezTo>
                  <a:lnTo>
                    <a:pt x="82315" y="787400"/>
                  </a:lnTo>
                  <a:cubicBezTo>
                    <a:pt x="60484" y="787400"/>
                    <a:pt x="39546" y="778728"/>
                    <a:pt x="24109" y="763291"/>
                  </a:cubicBezTo>
                  <a:cubicBezTo>
                    <a:pt x="8672" y="747854"/>
                    <a:pt x="0" y="726916"/>
                    <a:pt x="0" y="705085"/>
                  </a:cubicBezTo>
                  <a:lnTo>
                    <a:pt x="0" y="82315"/>
                  </a:lnTo>
                  <a:cubicBezTo>
                    <a:pt x="0" y="60484"/>
                    <a:pt x="8672" y="39546"/>
                    <a:pt x="24109" y="24109"/>
                  </a:cubicBezTo>
                  <a:cubicBezTo>
                    <a:pt x="39546" y="8672"/>
                    <a:pt x="60484" y="0"/>
                    <a:pt x="82315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7432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b="true" sz="120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PICKUP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44500" y="1924050"/>
            <a:ext cx="2057400" cy="590550"/>
            <a:chOff x="0" y="0"/>
            <a:chExt cx="2743200" cy="787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3200" cy="787400"/>
            </a:xfrm>
            <a:custGeom>
              <a:avLst/>
              <a:gdLst/>
              <a:ahLst/>
              <a:cxnLst/>
              <a:rect r="r" b="b" t="t" l="l"/>
              <a:pathLst>
                <a:path h="787400" w="2743200">
                  <a:moveTo>
                    <a:pt x="82315" y="0"/>
                  </a:moveTo>
                  <a:lnTo>
                    <a:pt x="2660885" y="0"/>
                  </a:lnTo>
                  <a:cubicBezTo>
                    <a:pt x="2682716" y="0"/>
                    <a:pt x="2703654" y="8672"/>
                    <a:pt x="2719091" y="24109"/>
                  </a:cubicBezTo>
                  <a:cubicBezTo>
                    <a:pt x="2734528" y="39546"/>
                    <a:pt x="2743200" y="60484"/>
                    <a:pt x="2743200" y="82315"/>
                  </a:cubicBezTo>
                  <a:lnTo>
                    <a:pt x="2743200" y="705085"/>
                  </a:lnTo>
                  <a:cubicBezTo>
                    <a:pt x="2743200" y="726916"/>
                    <a:pt x="2734528" y="747854"/>
                    <a:pt x="2719091" y="763291"/>
                  </a:cubicBezTo>
                  <a:cubicBezTo>
                    <a:pt x="2703654" y="778728"/>
                    <a:pt x="2682716" y="787400"/>
                    <a:pt x="2660885" y="787400"/>
                  </a:cubicBezTo>
                  <a:lnTo>
                    <a:pt x="82315" y="787400"/>
                  </a:lnTo>
                  <a:cubicBezTo>
                    <a:pt x="60484" y="787400"/>
                    <a:pt x="39546" y="778728"/>
                    <a:pt x="24109" y="763291"/>
                  </a:cubicBezTo>
                  <a:cubicBezTo>
                    <a:pt x="8672" y="747854"/>
                    <a:pt x="0" y="726916"/>
                    <a:pt x="0" y="705085"/>
                  </a:cubicBezTo>
                  <a:lnTo>
                    <a:pt x="0" y="82315"/>
                  </a:lnTo>
                  <a:cubicBezTo>
                    <a:pt x="0" y="60484"/>
                    <a:pt x="8672" y="39546"/>
                    <a:pt x="24109" y="24109"/>
                  </a:cubicBezTo>
                  <a:cubicBezTo>
                    <a:pt x="39546" y="8672"/>
                    <a:pt x="60484" y="0"/>
                    <a:pt x="82315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7432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b="true" sz="120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DRIVERS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601950" y="1924050"/>
            <a:ext cx="2057400" cy="590550"/>
            <a:chOff x="0" y="0"/>
            <a:chExt cx="2743200" cy="78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43200" cy="787400"/>
            </a:xfrm>
            <a:custGeom>
              <a:avLst/>
              <a:gdLst/>
              <a:ahLst/>
              <a:cxnLst/>
              <a:rect r="r" b="b" t="t" l="l"/>
              <a:pathLst>
                <a:path h="787400" w="2743200">
                  <a:moveTo>
                    <a:pt x="82315" y="0"/>
                  </a:moveTo>
                  <a:lnTo>
                    <a:pt x="2660885" y="0"/>
                  </a:lnTo>
                  <a:cubicBezTo>
                    <a:pt x="2682716" y="0"/>
                    <a:pt x="2703654" y="8672"/>
                    <a:pt x="2719091" y="24109"/>
                  </a:cubicBezTo>
                  <a:cubicBezTo>
                    <a:pt x="2734528" y="39546"/>
                    <a:pt x="2743200" y="60484"/>
                    <a:pt x="2743200" y="82315"/>
                  </a:cubicBezTo>
                  <a:lnTo>
                    <a:pt x="2743200" y="705085"/>
                  </a:lnTo>
                  <a:cubicBezTo>
                    <a:pt x="2743200" y="726916"/>
                    <a:pt x="2734528" y="747854"/>
                    <a:pt x="2719091" y="763291"/>
                  </a:cubicBezTo>
                  <a:cubicBezTo>
                    <a:pt x="2703654" y="778728"/>
                    <a:pt x="2682716" y="787400"/>
                    <a:pt x="2660885" y="787400"/>
                  </a:cubicBezTo>
                  <a:lnTo>
                    <a:pt x="82315" y="787400"/>
                  </a:lnTo>
                  <a:cubicBezTo>
                    <a:pt x="60484" y="787400"/>
                    <a:pt x="39546" y="778728"/>
                    <a:pt x="24109" y="763291"/>
                  </a:cubicBezTo>
                  <a:cubicBezTo>
                    <a:pt x="8672" y="747854"/>
                    <a:pt x="0" y="726916"/>
                    <a:pt x="0" y="705085"/>
                  </a:cubicBezTo>
                  <a:lnTo>
                    <a:pt x="0" y="82315"/>
                  </a:lnTo>
                  <a:cubicBezTo>
                    <a:pt x="0" y="60484"/>
                    <a:pt x="8672" y="39546"/>
                    <a:pt x="24109" y="24109"/>
                  </a:cubicBezTo>
                  <a:cubicBezTo>
                    <a:pt x="39546" y="8672"/>
                    <a:pt x="60484" y="0"/>
                    <a:pt x="82315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7432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b="true" sz="120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PROFILE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8200" y="2971800"/>
            <a:ext cx="6210300" cy="3324225"/>
            <a:chOff x="0" y="0"/>
            <a:chExt cx="8280400" cy="44323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130400" y="177800"/>
              <a:ext cx="8150000" cy="4254500"/>
              <a:chOff x="0" y="0"/>
              <a:chExt cx="8150000" cy="4254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50000" cy="4254500"/>
              </a:xfrm>
              <a:custGeom>
                <a:avLst/>
                <a:gdLst/>
                <a:ahLst/>
                <a:cxnLst/>
                <a:rect r="r" b="b" t="t" l="l"/>
                <a:pathLst>
                  <a:path h="4254500" w="8150000">
                    <a:moveTo>
                      <a:pt x="0" y="0"/>
                    </a:moveTo>
                    <a:lnTo>
                      <a:pt x="8150000" y="0"/>
                    </a:lnTo>
                    <a:lnTo>
                      <a:pt x="8150000" y="4254500"/>
                    </a:lnTo>
                    <a:lnTo>
                      <a:pt x="0" y="4254500"/>
                    </a:lnTo>
                    <a:close/>
                  </a:path>
                </a:pathLst>
              </a:custGeom>
              <a:solidFill>
                <a:srgbClr val="07162F">
                  <a:alpha val="1176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150000" cy="429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50000" cy="4254500"/>
            </a:xfrm>
            <a:custGeom>
              <a:avLst/>
              <a:gdLst/>
              <a:ahLst/>
              <a:cxnLst/>
              <a:rect r="r" b="b" t="t" l="l"/>
              <a:pathLst>
                <a:path h="4254500" w="8150000">
                  <a:moveTo>
                    <a:pt x="0" y="0"/>
                  </a:moveTo>
                  <a:lnTo>
                    <a:pt x="8150000" y="0"/>
                  </a:lnTo>
                  <a:lnTo>
                    <a:pt x="8150000" y="4254500"/>
                  </a:lnTo>
                  <a:lnTo>
                    <a:pt x="0" y="425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02" t="0" r="-220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653620" y="2971800"/>
            <a:ext cx="4448175" cy="3324225"/>
            <a:chOff x="0" y="0"/>
            <a:chExt cx="5930900" cy="44323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152400" y="177800"/>
              <a:ext cx="5778500" cy="4254500"/>
              <a:chOff x="0" y="0"/>
              <a:chExt cx="5778500" cy="4254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778500" cy="4254500"/>
              </a:xfrm>
              <a:custGeom>
                <a:avLst/>
                <a:gdLst/>
                <a:ahLst/>
                <a:cxnLst/>
                <a:rect r="r" b="b" t="t" l="l"/>
                <a:pathLst>
                  <a:path h="4254500" w="5778500">
                    <a:moveTo>
                      <a:pt x="0" y="0"/>
                    </a:moveTo>
                    <a:lnTo>
                      <a:pt x="5778500" y="0"/>
                    </a:lnTo>
                    <a:lnTo>
                      <a:pt x="5778500" y="4254500"/>
                    </a:lnTo>
                    <a:lnTo>
                      <a:pt x="0" y="4254500"/>
                    </a:lnTo>
                    <a:close/>
                  </a:path>
                </a:pathLst>
              </a:custGeom>
              <a:solidFill>
                <a:srgbClr val="07162F">
                  <a:alpha val="1176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778500" cy="429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78500" cy="4254500"/>
            </a:xfrm>
            <a:custGeom>
              <a:avLst/>
              <a:gdLst/>
              <a:ahLst/>
              <a:cxnLst/>
              <a:rect r="r" b="b" t="t" l="l"/>
              <a:pathLst>
                <a:path h="42545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4254500"/>
                  </a:lnTo>
                  <a:lnTo>
                    <a:pt x="0" y="425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70" t="0" r="-2437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011150" y="2971800"/>
            <a:ext cx="4448175" cy="3324225"/>
            <a:chOff x="0" y="0"/>
            <a:chExt cx="5930900" cy="44323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152400" y="177800"/>
              <a:ext cx="5778500" cy="4254500"/>
              <a:chOff x="0" y="0"/>
              <a:chExt cx="5778500" cy="42545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778500" cy="4254500"/>
              </a:xfrm>
              <a:custGeom>
                <a:avLst/>
                <a:gdLst/>
                <a:ahLst/>
                <a:cxnLst/>
                <a:rect r="r" b="b" t="t" l="l"/>
                <a:pathLst>
                  <a:path h="4254500" w="5778500">
                    <a:moveTo>
                      <a:pt x="0" y="0"/>
                    </a:moveTo>
                    <a:lnTo>
                      <a:pt x="5778500" y="0"/>
                    </a:lnTo>
                    <a:lnTo>
                      <a:pt x="5778500" y="4254500"/>
                    </a:lnTo>
                    <a:lnTo>
                      <a:pt x="0" y="4254500"/>
                    </a:lnTo>
                    <a:close/>
                  </a:path>
                </a:pathLst>
              </a:custGeom>
              <a:solidFill>
                <a:srgbClr val="07162F">
                  <a:alpha val="1176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5778500" cy="429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78500" cy="4254500"/>
            </a:xfrm>
            <a:custGeom>
              <a:avLst/>
              <a:gdLst/>
              <a:ahLst/>
              <a:cxnLst/>
              <a:rect r="r" b="b" t="t" l="l"/>
              <a:pathLst>
                <a:path h="42545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4254500"/>
                  </a:lnTo>
                  <a:lnTo>
                    <a:pt x="0" y="425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996" t="0" r="-23996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90600" y="6438900"/>
            <a:ext cx="3905250" cy="45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10213F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OVERVIEW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10213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Summary cards, operations and system status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53620" y="6438900"/>
            <a:ext cx="3905250" cy="45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10213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ROUTES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1021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Pickup places and add-place actions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49250" y="6438900"/>
            <a:ext cx="3905250" cy="45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1021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PROFILE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1021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 and university details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176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4000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36C5F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  /  DRIVER MODULE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00125"/>
            <a:ext cx="85725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Focused route experience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857875" y="2381250"/>
            <a:ext cx="11449050" cy="5791200"/>
            <a:chOff x="0" y="0"/>
            <a:chExt cx="15265400" cy="772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52400" y="177800"/>
              <a:ext cx="15113000" cy="7543800"/>
              <a:chOff x="0" y="0"/>
              <a:chExt cx="15113000" cy="7543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113000" cy="7543800"/>
              </a:xfrm>
              <a:custGeom>
                <a:avLst/>
                <a:gdLst/>
                <a:ahLst/>
                <a:cxnLst/>
                <a:rect r="r" b="b" t="t" l="l"/>
                <a:pathLst>
                  <a:path h="7543800" w="15113000">
                    <a:moveTo>
                      <a:pt x="0" y="0"/>
                    </a:moveTo>
                    <a:lnTo>
                      <a:pt x="15113000" y="0"/>
                    </a:lnTo>
                    <a:lnTo>
                      <a:pt x="15113000" y="7543800"/>
                    </a:lnTo>
                    <a:lnTo>
                      <a:pt x="0" y="7543800"/>
                    </a:lnTo>
                    <a:close/>
                  </a:path>
                </a:pathLst>
              </a:custGeom>
              <a:solidFill>
                <a:srgbClr val="07162F">
                  <a:alpha val="1176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5113000" cy="758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113000" cy="7543800"/>
            </a:xfrm>
            <a:custGeom>
              <a:avLst/>
              <a:gdLst/>
              <a:ahLst/>
              <a:cxnLst/>
              <a:rect r="r" b="b" t="t" l="l"/>
              <a:pathLst>
                <a:path h="7543800" w="15113000">
                  <a:moveTo>
                    <a:pt x="0" y="0"/>
                  </a:moveTo>
                  <a:lnTo>
                    <a:pt x="15113000" y="0"/>
                  </a:lnTo>
                  <a:lnTo>
                    <a:pt x="15113000" y="7543800"/>
                  </a:lnTo>
                  <a:lnTo>
                    <a:pt x="0" y="754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0" r="-41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76300" y="2476500"/>
            <a:ext cx="3810000" cy="781050"/>
            <a:chOff x="0" y="0"/>
            <a:chExt cx="5080000" cy="104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996950"/>
                  </a:lnTo>
                  <a:cubicBezTo>
                    <a:pt x="5080000" y="1021499"/>
                    <a:pt x="5060099" y="1041400"/>
                    <a:pt x="5035550" y="1041400"/>
                  </a:cubicBezTo>
                  <a:lnTo>
                    <a:pt x="44450" y="1041400"/>
                  </a:lnTo>
                  <a:cubicBezTo>
                    <a:pt x="19901" y="1041400"/>
                    <a:pt x="0" y="1021499"/>
                    <a:pt x="0" y="9969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5080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DRIVER</a:t>
              </a:r>
            </a:p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LOGIN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2781300" y="3257550"/>
            <a:ext cx="0" cy="266700"/>
          </a:xfrm>
          <a:prstGeom prst="line">
            <a:avLst/>
          </a:prstGeom>
          <a:ln cap="flat" w="28575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76300" y="3581400"/>
            <a:ext cx="3810000" cy="781050"/>
            <a:chOff x="0" y="0"/>
            <a:chExt cx="5080000" cy="1041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996950"/>
                  </a:lnTo>
                  <a:cubicBezTo>
                    <a:pt x="5080000" y="1021499"/>
                    <a:pt x="5060099" y="1041400"/>
                    <a:pt x="5035550" y="1041400"/>
                  </a:cubicBezTo>
                  <a:lnTo>
                    <a:pt x="44450" y="1041400"/>
                  </a:lnTo>
                  <a:cubicBezTo>
                    <a:pt x="19901" y="1041400"/>
                    <a:pt x="0" y="1021499"/>
                    <a:pt x="0" y="9969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02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5080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DASHBOARD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781300" y="4362450"/>
            <a:ext cx="0" cy="266700"/>
          </a:xfrm>
          <a:prstGeom prst="line">
            <a:avLst/>
          </a:prstGeom>
          <a:ln cap="flat" w="28575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76300" y="4686300"/>
            <a:ext cx="3810000" cy="781050"/>
            <a:chOff x="0" y="0"/>
            <a:chExt cx="5080000" cy="1041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996950"/>
                  </a:lnTo>
                  <a:cubicBezTo>
                    <a:pt x="5080000" y="1021499"/>
                    <a:pt x="5060099" y="1041400"/>
                    <a:pt x="5035550" y="1041400"/>
                  </a:cubicBezTo>
                  <a:lnTo>
                    <a:pt x="44450" y="1041400"/>
                  </a:lnTo>
                  <a:cubicBezTo>
                    <a:pt x="19901" y="1041400"/>
                    <a:pt x="0" y="1021499"/>
                    <a:pt x="0" y="9969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02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080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ASSIGNED</a:t>
              </a:r>
            </a:p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BUS / ROUTE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2781300" y="5467350"/>
            <a:ext cx="0" cy="266700"/>
          </a:xfrm>
          <a:prstGeom prst="line">
            <a:avLst/>
          </a:prstGeom>
          <a:ln cap="flat" w="28575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876300" y="5791200"/>
            <a:ext cx="3810000" cy="781050"/>
            <a:chOff x="0" y="0"/>
            <a:chExt cx="5080000" cy="104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996950"/>
                  </a:lnTo>
                  <a:cubicBezTo>
                    <a:pt x="5080000" y="1021499"/>
                    <a:pt x="5060099" y="1041400"/>
                    <a:pt x="5035550" y="1041400"/>
                  </a:cubicBezTo>
                  <a:lnTo>
                    <a:pt x="44450" y="1041400"/>
                  </a:lnTo>
                  <a:cubicBezTo>
                    <a:pt x="19901" y="1041400"/>
                    <a:pt x="0" y="1021499"/>
                    <a:pt x="0" y="9969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02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5080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ROUTE</a:t>
              </a:r>
            </a:p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INFO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2781300" y="6572250"/>
            <a:ext cx="0" cy="266700"/>
          </a:xfrm>
          <a:prstGeom prst="line">
            <a:avLst/>
          </a:prstGeom>
          <a:ln cap="flat" w="28575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876300" y="6896100"/>
            <a:ext cx="3810000" cy="781050"/>
            <a:chOff x="0" y="0"/>
            <a:chExt cx="5080000" cy="1041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996950"/>
                  </a:lnTo>
                  <a:cubicBezTo>
                    <a:pt x="5080000" y="1021499"/>
                    <a:pt x="5060099" y="1041400"/>
                    <a:pt x="5035550" y="1041400"/>
                  </a:cubicBezTo>
                  <a:lnTo>
                    <a:pt x="44450" y="1041400"/>
                  </a:lnTo>
                  <a:cubicBezTo>
                    <a:pt x="19901" y="1041400"/>
                    <a:pt x="0" y="1021499"/>
                    <a:pt x="0" y="9969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02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5080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TRANSPORT</a:t>
              </a:r>
            </a:p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DUTY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66800" y="8162925"/>
            <a:ext cx="90487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36C5F0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“Right information for the right role.”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6800" y="8763000"/>
            <a:ext cx="10477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C8D6E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Dedicated dashboard • assigned bus and route visibility • no unnecessary administrative controls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7890B4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495300"/>
            <a:ext cx="476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 /  STUDENT EXPERIENCE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962025"/>
            <a:ext cx="95250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Bus information at a glance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8200" y="2247900"/>
            <a:ext cx="11925300" cy="6038850"/>
            <a:chOff x="0" y="0"/>
            <a:chExt cx="15900400" cy="80518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52400" y="177800"/>
              <a:ext cx="15748000" cy="7874000"/>
              <a:chOff x="0" y="0"/>
              <a:chExt cx="15748000" cy="787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748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15748000">
                    <a:moveTo>
                      <a:pt x="0" y="0"/>
                    </a:moveTo>
                    <a:lnTo>
                      <a:pt x="15748000" y="0"/>
                    </a:lnTo>
                    <a:lnTo>
                      <a:pt x="15748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07162F">
                  <a:alpha val="1176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5748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748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5748000">
                  <a:moveTo>
                    <a:pt x="0" y="0"/>
                  </a:moveTo>
                  <a:lnTo>
                    <a:pt x="15748000" y="0"/>
                  </a:lnTo>
                  <a:lnTo>
                    <a:pt x="15748000" y="7874000"/>
                  </a:lnTo>
                  <a:lnTo>
                    <a:pt x="0" y="787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5" r="0" b="-12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335000" y="2209800"/>
            <a:ext cx="3524250" cy="609600"/>
            <a:chOff x="0" y="0"/>
            <a:chExt cx="46990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99000" cy="812800"/>
            </a:xfrm>
            <a:custGeom>
              <a:avLst/>
              <a:gdLst/>
              <a:ahLst/>
              <a:cxnLst/>
              <a:rect r="r" b="b" t="t" l="l"/>
              <a:pathLst>
                <a:path h="812800" w="4699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764746"/>
                  </a:lnTo>
                  <a:cubicBezTo>
                    <a:pt x="4699000" y="777491"/>
                    <a:pt x="4693937" y="789713"/>
                    <a:pt x="4684925" y="798725"/>
                  </a:cubicBezTo>
                  <a:cubicBezTo>
                    <a:pt x="4675913" y="807737"/>
                    <a:pt x="4663691" y="812800"/>
                    <a:pt x="4650946" y="812800"/>
                  </a:cubicBezTo>
                  <a:lnTo>
                    <a:pt x="48054" y="812800"/>
                  </a:lnTo>
                  <a:cubicBezTo>
                    <a:pt x="35309" y="812800"/>
                    <a:pt x="23087" y="807737"/>
                    <a:pt x="14075" y="798725"/>
                  </a:cubicBezTo>
                  <a:cubicBezTo>
                    <a:pt x="5063" y="789713"/>
                    <a:pt x="0" y="777491"/>
                    <a:pt x="0" y="764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46990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LOGIN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35000" y="3105150"/>
            <a:ext cx="3524250" cy="609600"/>
            <a:chOff x="0" y="0"/>
            <a:chExt cx="46990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99000" cy="812800"/>
            </a:xfrm>
            <a:custGeom>
              <a:avLst/>
              <a:gdLst/>
              <a:ahLst/>
              <a:cxnLst/>
              <a:rect r="r" b="b" t="t" l="l"/>
              <a:pathLst>
                <a:path h="812800" w="4699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764746"/>
                  </a:lnTo>
                  <a:cubicBezTo>
                    <a:pt x="4699000" y="777491"/>
                    <a:pt x="4693937" y="789713"/>
                    <a:pt x="4684925" y="798725"/>
                  </a:cubicBezTo>
                  <a:cubicBezTo>
                    <a:pt x="4675913" y="807737"/>
                    <a:pt x="4663691" y="812800"/>
                    <a:pt x="4650946" y="812800"/>
                  </a:cubicBezTo>
                  <a:lnTo>
                    <a:pt x="48054" y="812800"/>
                  </a:lnTo>
                  <a:cubicBezTo>
                    <a:pt x="35309" y="812800"/>
                    <a:pt x="23087" y="807737"/>
                    <a:pt x="14075" y="798725"/>
                  </a:cubicBezTo>
                  <a:cubicBezTo>
                    <a:pt x="5063" y="789713"/>
                    <a:pt x="0" y="777491"/>
                    <a:pt x="0" y="764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46990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DASHBOARD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35000" y="4000500"/>
            <a:ext cx="3524250" cy="609600"/>
            <a:chOff x="0" y="0"/>
            <a:chExt cx="46990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99000" cy="812800"/>
            </a:xfrm>
            <a:custGeom>
              <a:avLst/>
              <a:gdLst/>
              <a:ahLst/>
              <a:cxnLst/>
              <a:rect r="r" b="b" t="t" l="l"/>
              <a:pathLst>
                <a:path h="812800" w="4699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764746"/>
                  </a:lnTo>
                  <a:cubicBezTo>
                    <a:pt x="4699000" y="777491"/>
                    <a:pt x="4693937" y="789713"/>
                    <a:pt x="4684925" y="798725"/>
                  </a:cubicBezTo>
                  <a:cubicBezTo>
                    <a:pt x="4675913" y="807737"/>
                    <a:pt x="4663691" y="812800"/>
                    <a:pt x="4650946" y="812800"/>
                  </a:cubicBezTo>
                  <a:lnTo>
                    <a:pt x="48054" y="812800"/>
                  </a:lnTo>
                  <a:cubicBezTo>
                    <a:pt x="35309" y="812800"/>
                    <a:pt x="23087" y="807737"/>
                    <a:pt x="14075" y="798725"/>
                  </a:cubicBezTo>
                  <a:cubicBezTo>
                    <a:pt x="5063" y="789713"/>
                    <a:pt x="0" y="777491"/>
                    <a:pt x="0" y="764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6990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BUS DETAILS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35000" y="4895850"/>
            <a:ext cx="3524250" cy="609600"/>
            <a:chOff x="0" y="0"/>
            <a:chExt cx="46990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99000" cy="812800"/>
            </a:xfrm>
            <a:custGeom>
              <a:avLst/>
              <a:gdLst/>
              <a:ahLst/>
              <a:cxnLst/>
              <a:rect r="r" b="b" t="t" l="l"/>
              <a:pathLst>
                <a:path h="812800" w="4699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764746"/>
                  </a:lnTo>
                  <a:cubicBezTo>
                    <a:pt x="4699000" y="777491"/>
                    <a:pt x="4693937" y="789713"/>
                    <a:pt x="4684925" y="798725"/>
                  </a:cubicBezTo>
                  <a:cubicBezTo>
                    <a:pt x="4675913" y="807737"/>
                    <a:pt x="4663691" y="812800"/>
                    <a:pt x="4650946" y="812800"/>
                  </a:cubicBezTo>
                  <a:lnTo>
                    <a:pt x="48054" y="812800"/>
                  </a:lnTo>
                  <a:cubicBezTo>
                    <a:pt x="35309" y="812800"/>
                    <a:pt x="23087" y="807737"/>
                    <a:pt x="14075" y="798725"/>
                  </a:cubicBezTo>
                  <a:cubicBezTo>
                    <a:pt x="5063" y="789713"/>
                    <a:pt x="0" y="777491"/>
                    <a:pt x="0" y="764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46990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ROUTE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35000" y="5791200"/>
            <a:ext cx="3524250" cy="609600"/>
            <a:chOff x="0" y="0"/>
            <a:chExt cx="46990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99000" cy="812800"/>
            </a:xfrm>
            <a:custGeom>
              <a:avLst/>
              <a:gdLst/>
              <a:ahLst/>
              <a:cxnLst/>
              <a:rect r="r" b="b" t="t" l="l"/>
              <a:pathLst>
                <a:path h="812800" w="4699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764746"/>
                  </a:lnTo>
                  <a:cubicBezTo>
                    <a:pt x="4699000" y="777491"/>
                    <a:pt x="4693937" y="789713"/>
                    <a:pt x="4684925" y="798725"/>
                  </a:cubicBezTo>
                  <a:cubicBezTo>
                    <a:pt x="4675913" y="807737"/>
                    <a:pt x="4663691" y="812800"/>
                    <a:pt x="4650946" y="812800"/>
                  </a:cubicBezTo>
                  <a:lnTo>
                    <a:pt x="48054" y="812800"/>
                  </a:lnTo>
                  <a:cubicBezTo>
                    <a:pt x="35309" y="812800"/>
                    <a:pt x="23087" y="807737"/>
                    <a:pt x="14075" y="798725"/>
                  </a:cubicBezTo>
                  <a:cubicBezTo>
                    <a:pt x="5063" y="789713"/>
                    <a:pt x="0" y="777491"/>
                    <a:pt x="0" y="764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46990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PICKUP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35000" y="6686550"/>
            <a:ext cx="3524250" cy="609600"/>
            <a:chOff x="0" y="0"/>
            <a:chExt cx="46990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99000" cy="812800"/>
            </a:xfrm>
            <a:custGeom>
              <a:avLst/>
              <a:gdLst/>
              <a:ahLst/>
              <a:cxnLst/>
              <a:rect r="r" b="b" t="t" l="l"/>
              <a:pathLst>
                <a:path h="812800" w="4699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764746"/>
                  </a:lnTo>
                  <a:cubicBezTo>
                    <a:pt x="4699000" y="777491"/>
                    <a:pt x="4693937" y="789713"/>
                    <a:pt x="4684925" y="798725"/>
                  </a:cubicBezTo>
                  <a:cubicBezTo>
                    <a:pt x="4675913" y="807737"/>
                    <a:pt x="4663691" y="812800"/>
                    <a:pt x="4650946" y="812800"/>
                  </a:cubicBezTo>
                  <a:lnTo>
                    <a:pt x="48054" y="812800"/>
                  </a:lnTo>
                  <a:cubicBezTo>
                    <a:pt x="35309" y="812800"/>
                    <a:pt x="23087" y="807737"/>
                    <a:pt x="14075" y="798725"/>
                  </a:cubicBezTo>
                  <a:cubicBezTo>
                    <a:pt x="5063" y="789713"/>
                    <a:pt x="0" y="777491"/>
                    <a:pt x="0" y="764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18A875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46990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DIGITAL PASS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52500" y="8277225"/>
            <a:ext cx="10668000" cy="70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Replacing scattered transportation information with a simple digital student experience.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30250" y="8124825"/>
            <a:ext cx="3714750" cy="78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 BUS PASS</a:t>
            </a:r>
          </a:p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QR-enabled transportation identity for easy boarding access.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176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04825"/>
            <a:ext cx="4286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36C5F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07  /  END-TO-END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981075"/>
            <a:ext cx="85725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How the system works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2876550"/>
            <a:ext cx="3028950" cy="2133600"/>
            <a:chOff x="0" y="0"/>
            <a:chExt cx="4038600" cy="28448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038600" cy="2844800"/>
              <a:chOff x="0" y="0"/>
              <a:chExt cx="4038600" cy="2844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38600" cy="2844800"/>
              </a:xfrm>
              <a:custGeom>
                <a:avLst/>
                <a:gdLst/>
                <a:ahLst/>
                <a:cxnLst/>
                <a:rect r="r" b="b" t="t" l="l"/>
                <a:pathLst>
                  <a:path h="2844800" w="4038600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176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38600" cy="288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04800" y="492125"/>
              <a:ext cx="3429000" cy="348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ADMIN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04800" y="1279525"/>
              <a:ext cx="3429000" cy="627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sz="142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Adds / updates transportation info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733800" y="3943350"/>
            <a:ext cx="38100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210050" y="2876550"/>
            <a:ext cx="3028950" cy="2133600"/>
            <a:chOff x="0" y="0"/>
            <a:chExt cx="4038600" cy="28448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038600" cy="2844800"/>
              <a:chOff x="0" y="0"/>
              <a:chExt cx="4038600" cy="2844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38600" cy="2844800"/>
              </a:xfrm>
              <a:custGeom>
                <a:avLst/>
                <a:gdLst/>
                <a:ahLst/>
                <a:cxnLst/>
                <a:rect r="r" b="b" t="t" l="l"/>
                <a:pathLst>
                  <a:path h="2844800" w="4038600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174A9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038600" cy="288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04800" y="492125"/>
              <a:ext cx="3429000" cy="348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SYSTEM DATA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04800" y="1279525"/>
              <a:ext cx="3429000" cy="309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sz="142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Bus + route + pickup + driver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258050" y="3943350"/>
            <a:ext cx="38100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734300" y="2876550"/>
            <a:ext cx="3028950" cy="2133600"/>
            <a:chOff x="0" y="0"/>
            <a:chExt cx="4038600" cy="28448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038600" cy="2844800"/>
              <a:chOff x="0" y="0"/>
              <a:chExt cx="4038600" cy="2844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38600" cy="2844800"/>
              </a:xfrm>
              <a:custGeom>
                <a:avLst/>
                <a:gdLst/>
                <a:ahLst/>
                <a:cxnLst/>
                <a:rect r="r" b="b" t="t" l="l"/>
                <a:pathLst>
                  <a:path h="2844800" w="4038600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7890B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038600" cy="288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04800" y="492125"/>
              <a:ext cx="3429000" cy="348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DRIVER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04800" y="1279525"/>
              <a:ext cx="3429000" cy="309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sz="142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Views assigned information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782300" y="3943350"/>
            <a:ext cx="38100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1258550" y="2876550"/>
            <a:ext cx="3028950" cy="2133600"/>
            <a:chOff x="0" y="0"/>
            <a:chExt cx="4038600" cy="28448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038600" cy="2844800"/>
              <a:chOff x="0" y="0"/>
              <a:chExt cx="4038600" cy="2844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38600" cy="2844800"/>
              </a:xfrm>
              <a:custGeom>
                <a:avLst/>
                <a:gdLst/>
                <a:ahLst/>
                <a:cxnLst/>
                <a:rect r="r" b="b" t="t" l="l"/>
                <a:pathLst>
                  <a:path h="2844800" w="4038600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18A87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038600" cy="288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04800" y="492125"/>
              <a:ext cx="3429000" cy="348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STUDENT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04800" y="1279525"/>
              <a:ext cx="3429000" cy="309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sz="142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Views bus + route + pickup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306550" y="3943350"/>
            <a:ext cx="38100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4782800" y="2876550"/>
            <a:ext cx="3028950" cy="2133600"/>
            <a:chOff x="0" y="0"/>
            <a:chExt cx="4038600" cy="28448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4038600" cy="2844800"/>
              <a:chOff x="0" y="0"/>
              <a:chExt cx="4038600" cy="2844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038600" cy="2844800"/>
              </a:xfrm>
              <a:custGeom>
                <a:avLst/>
                <a:gdLst/>
                <a:ahLst/>
                <a:cxnLst/>
                <a:rect r="r" b="b" t="t" l="l"/>
                <a:pathLst>
                  <a:path h="2844800" w="4038600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F59E0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4038600" cy="288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04800" y="492125"/>
              <a:ext cx="3429000" cy="348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DIGITAL PASS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04800" y="1279525"/>
              <a:ext cx="3429000" cy="309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sz="1425">
                  <a:solidFill>
                    <a:srgbClr val="C8D6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Transportation identity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6515100"/>
            <a:ext cx="5524500" cy="1676400"/>
            <a:chOff x="0" y="0"/>
            <a:chExt cx="7366000" cy="22352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7366000" cy="2235200"/>
              <a:chOff x="0" y="0"/>
              <a:chExt cx="7366000" cy="2235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3660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2235200"/>
                    </a:lnTo>
                    <a:lnTo>
                      <a:pt x="0" y="2235200"/>
                    </a:lnTo>
                    <a:close/>
                  </a:path>
                </a:pathLst>
              </a:custGeom>
              <a:solidFill>
                <a:srgbClr val="102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7366000" cy="227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81000" y="428625"/>
              <a:ext cx="660400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3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ROLE-BASED ACCESS</a:t>
              </a:r>
            </a:p>
            <a:p>
              <a:pPr algn="ctr">
                <a:lnSpc>
                  <a:spcPts val="2283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Dedicated interface per responsibility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305550" y="6515100"/>
            <a:ext cx="5524500" cy="1676400"/>
            <a:chOff x="0" y="0"/>
            <a:chExt cx="7366000" cy="22352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7366000" cy="2235200"/>
              <a:chOff x="0" y="0"/>
              <a:chExt cx="7366000" cy="22352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3660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2235200"/>
                    </a:lnTo>
                    <a:lnTo>
                      <a:pt x="0" y="2235200"/>
                    </a:lnTo>
                    <a:close/>
                  </a:path>
                </a:pathLst>
              </a:custGeom>
              <a:solidFill>
                <a:srgbClr val="102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366000" cy="227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81000" y="428625"/>
              <a:ext cx="660400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3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CENTRALIZED INFORMATION</a:t>
              </a:r>
            </a:p>
            <a:p>
              <a:pPr algn="ctr">
                <a:lnSpc>
                  <a:spcPts val="2283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Organized data within one system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25300" y="6515100"/>
            <a:ext cx="5524500" cy="1676400"/>
            <a:chOff x="0" y="0"/>
            <a:chExt cx="7366000" cy="22352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7366000" cy="2235200"/>
              <a:chOff x="0" y="0"/>
              <a:chExt cx="7366000" cy="22352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73660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2235200"/>
                    </a:lnTo>
                    <a:lnTo>
                      <a:pt x="0" y="2235200"/>
                    </a:lnTo>
                    <a:close/>
                  </a:path>
                </a:pathLst>
              </a:custGeom>
              <a:solidFill>
                <a:srgbClr val="102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7366000" cy="227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81000" y="428625"/>
              <a:ext cx="660400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3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BETTER ACCESSIBILITY</a:t>
              </a:r>
            </a:p>
            <a:p>
              <a:pPr algn="ctr">
                <a:lnSpc>
                  <a:spcPts val="2283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 manual communication dependency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7890B4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08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495300"/>
            <a:ext cx="3333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08  / 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962025"/>
            <a:ext cx="904875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Key features &amp; benefits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9750" y="1019175"/>
            <a:ext cx="7810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1769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From transportation records to a connected digital experience.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200" y="2571750"/>
            <a:ext cx="3905250" cy="2000250"/>
            <a:chOff x="0" y="0"/>
            <a:chExt cx="5207000" cy="266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76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Role-based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dashboards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86350" y="2571750"/>
            <a:ext cx="3905250" cy="2000250"/>
            <a:chOff x="0" y="0"/>
            <a:chExt cx="5207000" cy="2667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76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Admin transport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management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34500" y="2571750"/>
            <a:ext cx="3905250" cy="2000250"/>
            <a:chOff x="0" y="0"/>
            <a:chExt cx="5207000" cy="2667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76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Route + pickup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management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582650" y="2571750"/>
            <a:ext cx="3905250" cy="2000250"/>
            <a:chOff x="0" y="0"/>
            <a:chExt cx="5207000" cy="2667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76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Driver route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information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8200" y="4953000"/>
            <a:ext cx="3905250" cy="2000250"/>
            <a:chOff x="0" y="0"/>
            <a:chExt cx="5207000" cy="26670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8A87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Student bus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information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086350" y="4953000"/>
            <a:ext cx="3905250" cy="2000250"/>
            <a:chOff x="0" y="0"/>
            <a:chExt cx="5207000" cy="26670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8A87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Digital bus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pass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34500" y="4953000"/>
            <a:ext cx="3905250" cy="2000250"/>
            <a:chOff x="0" y="0"/>
            <a:chExt cx="5207000" cy="266700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8A87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Centralized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data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582650" y="4953000"/>
            <a:ext cx="3905250" cy="2000250"/>
            <a:chOff x="0" y="0"/>
            <a:chExt cx="5207000" cy="26670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5207000" cy="2667000"/>
              <a:chOff x="0" y="0"/>
              <a:chExt cx="5207000" cy="26670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5207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5207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381000" y="381000"/>
              <a:ext cx="609600" cy="127000"/>
              <a:chOff x="0" y="0"/>
              <a:chExt cx="609600" cy="127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6096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18A87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609600" cy="16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8" id="68"/>
            <p:cNvSpPr txBox="true"/>
            <p:nvPr/>
          </p:nvSpPr>
          <p:spPr>
            <a:xfrm rot="0">
              <a:off x="381000" y="1000125"/>
              <a:ext cx="4191000" cy="69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User-specific</a:t>
              </a:r>
            </a:p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0213F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interfaces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619250" y="8181975"/>
            <a:ext cx="15049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spc="85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rPr>
              <a:t>LESS MANUAL SHARING   •   EASIER MANAGEMENT   •   IMPROVED ACCESS   •   ORGANIZED WORKFLOW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09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176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495300"/>
            <a:ext cx="3810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09  / 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962025"/>
            <a:ext cx="114300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13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Future scope &amp; project resources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628900"/>
            <a:ext cx="3619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1769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NEXT CAPABILITIES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3048000"/>
            <a:ext cx="4953000" cy="225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Push notifications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Route optimization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Occupancy monitoring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alerts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Usage analytics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QR pass verification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College-system integration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62925" y="3105150"/>
            <a:ext cx="1809750" cy="990600"/>
            <a:chOff x="0" y="0"/>
            <a:chExt cx="2413000" cy="132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30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227221"/>
                  </a:lnTo>
                  <a:cubicBezTo>
                    <a:pt x="2413000" y="1252040"/>
                    <a:pt x="2403141" y="1275842"/>
                    <a:pt x="2385591" y="1293391"/>
                  </a:cubicBezTo>
                  <a:cubicBezTo>
                    <a:pt x="2368042" y="1310941"/>
                    <a:pt x="2344240" y="1320800"/>
                    <a:pt x="2319421" y="1320800"/>
                  </a:cubicBezTo>
                  <a:lnTo>
                    <a:pt x="93579" y="1320800"/>
                  </a:lnTo>
                  <a:cubicBezTo>
                    <a:pt x="68760" y="1320800"/>
                    <a:pt x="44958" y="1310941"/>
                    <a:pt x="27409" y="1293391"/>
                  </a:cubicBezTo>
                  <a:cubicBezTo>
                    <a:pt x="9859" y="1275842"/>
                    <a:pt x="0" y="1252040"/>
                    <a:pt x="0" y="12272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07162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413000" cy="131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CURRENT</a:t>
              </a:r>
            </a:p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SYSTEM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9991725" y="3600450"/>
            <a:ext cx="209550" cy="0"/>
          </a:xfrm>
          <a:prstGeom prst="line">
            <a:avLst/>
          </a:prstGeom>
          <a:ln cap="flat" w="38100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991725" y="3600450"/>
            <a:ext cx="209550" cy="0"/>
          </a:xfrm>
          <a:prstGeom prst="line">
            <a:avLst/>
          </a:prstGeom>
          <a:ln cap="flat" w="38100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296525" y="3105150"/>
            <a:ext cx="1809750" cy="990600"/>
            <a:chOff x="0" y="0"/>
            <a:chExt cx="2413000" cy="132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30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227221"/>
                  </a:lnTo>
                  <a:cubicBezTo>
                    <a:pt x="2413000" y="1252040"/>
                    <a:pt x="2403141" y="1275842"/>
                    <a:pt x="2385591" y="1293391"/>
                  </a:cubicBezTo>
                  <a:cubicBezTo>
                    <a:pt x="2368042" y="1310941"/>
                    <a:pt x="2344240" y="1320800"/>
                    <a:pt x="2319421" y="1320800"/>
                  </a:cubicBezTo>
                  <a:lnTo>
                    <a:pt x="93579" y="1320800"/>
                  </a:lnTo>
                  <a:cubicBezTo>
                    <a:pt x="68760" y="1320800"/>
                    <a:pt x="44958" y="1310941"/>
                    <a:pt x="27409" y="1293391"/>
                  </a:cubicBezTo>
                  <a:cubicBezTo>
                    <a:pt x="9859" y="1275842"/>
                    <a:pt x="0" y="1252040"/>
                    <a:pt x="0" y="12272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413000" cy="131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SMART</a:t>
              </a:r>
            </a:p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NOTIFICATIONS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2125325" y="3600450"/>
            <a:ext cx="209550" cy="0"/>
          </a:xfrm>
          <a:prstGeom prst="line">
            <a:avLst/>
          </a:prstGeom>
          <a:ln cap="flat" w="38100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2430125" y="3105150"/>
            <a:ext cx="1809750" cy="990600"/>
            <a:chOff x="0" y="0"/>
            <a:chExt cx="2413000" cy="132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30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227221"/>
                  </a:lnTo>
                  <a:cubicBezTo>
                    <a:pt x="2413000" y="1252040"/>
                    <a:pt x="2403141" y="1275842"/>
                    <a:pt x="2385591" y="1293391"/>
                  </a:cubicBezTo>
                  <a:cubicBezTo>
                    <a:pt x="2368042" y="1310941"/>
                    <a:pt x="2344240" y="1320800"/>
                    <a:pt x="2319421" y="1320800"/>
                  </a:cubicBezTo>
                  <a:lnTo>
                    <a:pt x="93579" y="1320800"/>
                  </a:lnTo>
                  <a:cubicBezTo>
                    <a:pt x="68760" y="1320800"/>
                    <a:pt x="44958" y="1310941"/>
                    <a:pt x="27409" y="1293391"/>
                  </a:cubicBezTo>
                  <a:cubicBezTo>
                    <a:pt x="9859" y="1275842"/>
                    <a:pt x="0" y="1252040"/>
                    <a:pt x="0" y="12272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176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2413000" cy="131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ANALYTICS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258925" y="3600450"/>
            <a:ext cx="209550" cy="0"/>
          </a:xfrm>
          <a:prstGeom prst="line">
            <a:avLst/>
          </a:prstGeom>
          <a:ln cap="flat" w="38100">
            <a:solidFill>
              <a:srgbClr val="36C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4563725" y="3105150"/>
            <a:ext cx="1809750" cy="990600"/>
            <a:chOff x="0" y="0"/>
            <a:chExt cx="2413000" cy="132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130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227221"/>
                  </a:lnTo>
                  <a:cubicBezTo>
                    <a:pt x="2413000" y="1252040"/>
                    <a:pt x="2403141" y="1275842"/>
                    <a:pt x="2385591" y="1293391"/>
                  </a:cubicBezTo>
                  <a:cubicBezTo>
                    <a:pt x="2368042" y="1310941"/>
                    <a:pt x="2344240" y="1320800"/>
                    <a:pt x="2319421" y="1320800"/>
                  </a:cubicBezTo>
                  <a:lnTo>
                    <a:pt x="93579" y="1320800"/>
                  </a:lnTo>
                  <a:cubicBezTo>
                    <a:pt x="68760" y="1320800"/>
                    <a:pt x="44958" y="1310941"/>
                    <a:pt x="27409" y="1293391"/>
                  </a:cubicBezTo>
                  <a:cubicBezTo>
                    <a:pt x="9859" y="1275842"/>
                    <a:pt x="0" y="1252040"/>
                    <a:pt x="0" y="12272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18A875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413000" cy="131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MOBILE</a:t>
              </a:r>
            </a:p>
            <a:p>
              <a:pPr algn="ctr">
                <a:lnSpc>
                  <a:spcPts val="1402"/>
                </a:lnSpc>
              </a:pPr>
              <a:r>
                <a:rPr lang="en-US" sz="12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ECOSYSTEM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34500" y="6477000"/>
            <a:ext cx="7810500" cy="1200150"/>
            <a:chOff x="0" y="0"/>
            <a:chExt cx="10414000" cy="16002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0414000" cy="1600200"/>
              <a:chOff x="0" y="0"/>
              <a:chExt cx="10414000" cy="1600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414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00200"/>
                    </a:lnTo>
                    <a:lnTo>
                      <a:pt x="0" y="1600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414000" cy="163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08000" y="384175"/>
              <a:ext cx="9398000" cy="80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SOURCE CODE  /  GITHUB</a:t>
              </a:r>
            </a:p>
            <a:p>
              <a:pPr algn="l">
                <a:lnSpc>
                  <a:spcPts val="2475"/>
                </a:lnSpc>
              </a:pPr>
              <a:r>
                <a:rPr lang="en-US" sz="1650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https://github.com/Jarvish1xyz/Bus-Management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0" y="7905750"/>
            <a:ext cx="7810500" cy="1200150"/>
            <a:chOff x="0" y="0"/>
            <a:chExt cx="10414000" cy="16002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414000" cy="1600200"/>
              <a:chOff x="0" y="0"/>
              <a:chExt cx="10414000" cy="1600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414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00200"/>
                    </a:lnTo>
                    <a:lnTo>
                      <a:pt x="0" y="1600200"/>
                    </a:ln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414000" cy="163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8000" y="384175"/>
              <a:ext cx="9398000" cy="80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LIVE PROJECT</a:t>
              </a:r>
            </a:p>
            <a:p>
              <a:pPr algn="l">
                <a:lnSpc>
                  <a:spcPts val="2475"/>
                </a:lnSpc>
              </a:pPr>
              <a:r>
                <a:rPr lang="en-US" sz="1650" b="true">
                  <a:solidFill>
                    <a:srgbClr val="10213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https://busofcampus.vercel.app/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38200" y="9763125"/>
            <a:ext cx="5905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 MANAGEMENT SYSTEM  /  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64000" y="9763125"/>
            <a:ext cx="685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176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62F">
                    <a:alpha val="97000"/>
                  </a:srgbClr>
                </a:gs>
                <a:gs pos="58000">
                  <a:srgbClr val="07162F">
                    <a:alpha val="72000"/>
                  </a:srgbClr>
                </a:gs>
                <a:gs pos="100000">
                  <a:srgbClr val="07162F">
                    <a:alpha val="25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8200" y="981075"/>
            <a:ext cx="6191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36C5F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BUS MANAGEMENT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200" y="1895475"/>
            <a:ext cx="8096250" cy="11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8"/>
              </a:lnSpc>
            </a:pPr>
            <a:r>
              <a:rPr lang="en-US" sz="8400" b="true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3295650"/>
            <a:ext cx="7239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8D6EB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centralized approach to smarter campus transportation.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DAHT32RQ5Ng</dc:identifier>
  <dcterms:modified xsi:type="dcterms:W3CDTF">2011-08-01T06:04:30Z</dcterms:modified>
  <cp:revision>1</cp:revision>
  <dc:title>Real-time GPS tracking Push notifications Route optimization Occupancy monitoring Automated alerts Usage analytics QR pass verification College-system integration</dc:title>
</cp:coreProperties>
</file>